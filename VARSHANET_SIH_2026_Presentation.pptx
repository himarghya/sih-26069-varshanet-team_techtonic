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284C7"/>
                </a:solidFill>
              </a:defRPr>
            </a:pPr>
            <a:r>
              <a:t>SMART INDIA HACKATHON 2026</a:t>
            </a:r>
          </a:p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VARSHANET 2.0</a:t>
            </a:r>
          </a:p>
          <a:p>
            <a:pPr>
              <a:spcAft>
                <a:spcPts val="2400"/>
              </a:spcAft>
              <a:defRPr sz="2000">
                <a:solidFill>
                  <a:srgbClr val="94A3B8"/>
                </a:solidFill>
              </a:defRPr>
            </a:pPr>
            <a:r>
              <a:t>National Weather Big Data Analytics, Real-Time AI Verification &amp; Disaster Impact Grid</a:t>
            </a:r>
          </a:p>
          <a:p>
            <a:pPr>
              <a:defRPr sz="1300">
                <a:solidFill>
                  <a:srgbClr val="10B981"/>
                </a:solidFill>
              </a:defRPr>
            </a:pPr>
            <a:r>
              <a:t>Problem Statement: Real-time Weather Disasters &amp; Citizen Intelligence • Team Presentation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❖ Proposed Solution (Describe your Idea/Solution/Prototype)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24688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1. INGESTION</a:t>
            </a:r>
          </a:p>
          <a:p>
            <a:pPr algn="ctr">
              <a:defRPr sz="850">
                <a:solidFill>
                  <a:srgbClr val="0F172A"/>
                </a:solidFill>
              </a:defRPr>
            </a:pPr>
            <a:r>
              <a:t>33 IMD Radars + CWC +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3552" y="11887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097280"/>
            <a:ext cx="24688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2. DEDUPLICATION</a:t>
            </a:r>
          </a:p>
          <a:p>
            <a:pPr algn="ctr">
              <a:defRPr sz="850">
                <a:solidFill>
                  <a:srgbClr val="0F172A"/>
                </a:solidFill>
              </a:defRPr>
            </a:pPr>
            <a:r>
              <a:t>64-bit SimHash + CLIP ViT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16752" y="11887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24688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3. AI ENGINE</a:t>
            </a:r>
          </a:p>
          <a:p>
            <a:pPr algn="ctr">
              <a:defRPr sz="850">
                <a:solidFill>
                  <a:srgbClr val="0F172A"/>
                </a:solidFill>
              </a:defRPr>
            </a:pPr>
            <a:r>
              <a:t>HDBSCAN + VayuScore +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59952" y="11887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097280"/>
            <a:ext cx="24688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4. OUTPUTS</a:t>
            </a:r>
          </a:p>
          <a:p>
            <a:pPr algn="ctr">
              <a:defRPr sz="850">
                <a:solidFill>
                  <a:srgbClr val="0F172A"/>
                </a:solidFill>
              </a:defRPr>
            </a:pPr>
            <a:r>
              <a:t>Tactical Map + CAP 1.2 + SitRep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74519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" y="1947671"/>
            <a:ext cx="3236976" cy="438912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 Detailed explanation of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441447"/>
            <a:ext cx="316382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19" b="1">
                <a:solidFill>
                  <a:srgbClr val="0F172A"/>
                </a:solidFill>
              </a:defRPr>
            </a:pPr>
            <a:r>
              <a:t>• Multi-Source Ingestion &amp; Fallbacks: </a:t>
            </a:r>
            <a:r>
              <a:rPr b="0" sz="880">
                <a:solidFill>
                  <a:srgbClr val="334155"/>
                </a:solidFill>
              </a:rPr>
              <a:t>Ingests 33 IMD Doppler radars, CWC river telemetry, news feeds (#IMD), and citizen mobile PWAs under IMD DSP licensing, with automatic failover to Open-Meteo proxies.</a:t>
            </a:r>
          </a:p>
          <a:p>
            <a:pPr>
              <a:spcAft>
                <a:spcPts val="400"/>
              </a:spcAft>
              <a:defRPr sz="919" b="1">
                <a:solidFill>
                  <a:srgbClr val="0F172A"/>
                </a:solidFill>
              </a:defRPr>
            </a:pPr>
            <a:r>
              <a:t>• AI Deduplication &amp; Incident Clustering: </a:t>
            </a:r>
            <a:r>
              <a:rPr b="0" sz="880">
                <a:solidFill>
                  <a:srgbClr val="334155"/>
                </a:solidFill>
              </a:rPr>
              <a:t>Uses 64-bit SimHash for text deduplication and HDBSCAN spatial clustering to compress 1,000+ noisy raw reports into 8 verified, actionable incident clusters.</a:t>
            </a:r>
          </a:p>
          <a:p>
            <a:pPr>
              <a:spcAft>
                <a:spcPts val="400"/>
              </a:spcAft>
              <a:defRPr sz="919" b="1">
                <a:solidFill>
                  <a:srgbClr val="0F172A"/>
                </a:solidFill>
              </a:defRPr>
            </a:pPr>
            <a:r>
              <a:t>• Feasible, Low-Cost Architecture: </a:t>
            </a:r>
            <a:r>
              <a:rPr b="0" sz="880">
                <a:solidFill>
                  <a:srgbClr val="334155"/>
                </a:solidFill>
              </a:rPr>
              <a:t>Powered by FastAPI, Apache Kafka, and PostGIS on MeitY Cloud (~$380/month deployment cost) delivering sub-10s live updates under heavy disaster traffic.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3750" y="1874519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76902" y="1947671"/>
            <a:ext cx="3236976" cy="438912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 How it addresses the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3478" y="2441447"/>
            <a:ext cx="316382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19" b="1">
                <a:solidFill>
                  <a:srgbClr val="0F172A"/>
                </a:solidFill>
              </a:defRPr>
            </a:pPr>
            <a:r>
              <a:t>• Eliminates Social Media Noise: </a:t>
            </a:r>
            <a:r>
              <a:rPr b="0" sz="880">
                <a:solidFill>
                  <a:srgbClr val="334155"/>
                </a:solidFill>
              </a:rPr>
              <a:t>Converts fragmented citizen posts into verified incident cards with exposed population counts, hospital vulnerabilities, and submerged arterial roads.</a:t>
            </a:r>
          </a:p>
          <a:p>
            <a:pPr>
              <a:spcAft>
                <a:spcPts val="400"/>
              </a:spcAft>
              <a:defRPr sz="919" b="1">
                <a:solidFill>
                  <a:srgbClr val="0F172A"/>
                </a:solidFill>
              </a:defRPr>
            </a:pPr>
            <a:r>
              <a:t>• 7-Class Multilingual NLP Engine: </a:t>
            </a:r>
            <a:r>
              <a:rPr b="0" sz="880">
                <a:solidFill>
                  <a:srgbClr val="334155"/>
                </a:solidFill>
              </a:rPr>
              <a:t>Classifies incoming reports across 7 hazard categories (Rain, Floods, Lightning, Heat, Fog, Storms, Winds) with macro F1 &gt;= 0.94 across 5 Indian languages.</a:t>
            </a:r>
          </a:p>
          <a:p>
            <a:pPr>
              <a:spcAft>
                <a:spcPts val="400"/>
              </a:spcAft>
              <a:defRPr sz="919" b="1">
                <a:solidFill>
                  <a:srgbClr val="0F172A"/>
                </a:solidFill>
              </a:defRPr>
            </a:pPr>
            <a:r>
              <a:t>• Tactical Geospatial Command: </a:t>
            </a:r>
            <a:r>
              <a:rPr b="0" sz="880">
                <a:solidFill>
                  <a:srgbClr val="334155"/>
                </a:solidFill>
              </a:rPr>
              <a:t>Interactive map integrates 8 NDRF Strategic Base Depots (boats, divers, QRTs), CWC River Corridors, and live Lightning Strike (CG) grids.</a:t>
            </a:r>
          </a:p>
          <a:p>
            <a:pPr>
              <a:spcAft>
                <a:spcPts val="400"/>
              </a:spcAft>
              <a:defRPr sz="919" b="1">
                <a:solidFill>
                  <a:srgbClr val="0F172A"/>
                </a:solidFill>
              </a:defRPr>
            </a:pPr>
            <a:r>
              <a:t>• Privacy &amp; Sybil Defense: </a:t>
            </a:r>
            <a:r>
              <a:rPr b="0" sz="880">
                <a:solidFill>
                  <a:srgbClr val="334155"/>
                </a:solidFill>
              </a:rPr>
              <a:t>Auto-scrubs PII, enforces 500m geohash masking for citizen safety, and applies token-bucket rate limits to block bot attacks.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5980" y="1874519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9132" y="1947671"/>
            <a:ext cx="3236976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 Innovation and uniqueness (USPs)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5708" y="2441447"/>
            <a:ext cx="316382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19" b="1">
                <a:solidFill>
                  <a:srgbClr val="0F172A"/>
                </a:solidFill>
              </a:defRPr>
            </a:pPr>
            <a:r>
              <a:t>• Explainable VayuScore (0–100): </a:t>
            </a:r>
            <a:r>
              <a:rPr b="0" sz="880">
                <a:solidFill>
                  <a:srgbClr val="334155"/>
                </a:solidFill>
              </a:rPr>
              <a:t>Transparent point breakdown showing exact evidence attribution (Source Trust + Corroboration + Photo Forensics + Radar Agreement).</a:t>
            </a:r>
          </a:p>
          <a:p>
            <a:pPr>
              <a:spcAft>
                <a:spcPts val="400"/>
              </a:spcAft>
              <a:defRPr sz="919" b="1">
                <a:solidFill>
                  <a:srgbClr val="0F172A"/>
                </a:solidFill>
              </a:defRPr>
            </a:pPr>
            <a:r>
              <a:t>• CLIP Vision Recycled Image Detection: </a:t>
            </a:r>
            <a:r>
              <a:rPr b="0" sz="880">
                <a:solidFill>
                  <a:srgbClr val="334155"/>
                </a:solidFill>
              </a:rPr>
              <a:t>Uses CLIP visual embeddings and HSV turbidity to instantly flag recycled disaster photos from past historical events (e.g. 2018 Kerala floods).</a:t>
            </a:r>
          </a:p>
          <a:p>
            <a:pPr>
              <a:spcAft>
                <a:spcPts val="400"/>
              </a:spcAft>
              <a:defRPr sz="919" b="1">
                <a:solidFill>
                  <a:srgbClr val="0F172A"/>
                </a:solidFill>
              </a:defRPr>
            </a:pPr>
            <a:r>
              <a:t>• 1h–3h Severity Escalation Forecaster: </a:t>
            </a:r>
            <a:r>
              <a:rPr b="0" sz="880">
                <a:solidFill>
                  <a:srgbClr val="334155"/>
                </a:solidFill>
              </a:rPr>
              <a:t>Predicts risk escalation (Moderate to Critical), giving NDRF and District Magistrates a 60-to-180 minute proactive operational window.</a:t>
            </a:r>
          </a:p>
          <a:p>
            <a:pPr>
              <a:spcAft>
                <a:spcPts val="400"/>
              </a:spcAft>
              <a:defRPr sz="919" b="1">
                <a:solidFill>
                  <a:srgbClr val="0F172A"/>
                </a:solidFill>
              </a:defRPr>
            </a:pPr>
            <a:r>
              <a:t>• 1-Click Standards Interoperability: </a:t>
            </a:r>
            <a:r>
              <a:rPr b="0" sz="880">
                <a:solidFill>
                  <a:srgbClr val="334155"/>
                </a:solidFill>
              </a:rPr>
              <a:t>Generates standardized CAP 1.2 XML early warnings, automated Twitter (𝕏) Red Alerts, and official NDMA SitRep PDFs.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⚡ Sub-10s Dashboard Latency  |  💰 ~$380/month Cloud Feasibility  |  ⏱️ 60–180m Early Lead Time  |  📜 WMO CAP 1.2 &amp; NDMA Compliant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